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1F3A5F"/>
                </a:solidFill>
              </a:defRPr>
            </a:pPr>
            <a:r>
              <a:t>Predicting credit default, data and risk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307,507 past loans, 8.1% defaulted; 48,744 new applicants to score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7 linked tables (application, credit bureau (+monthly balance), previous Home Credit loans, instalments, POS &amp; credit-card balances)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Strongest signals are the external credit scores; for EXT_SOURCE_2 the default rate falls from 18.4% in the lowest decile to 3.0% in the highest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Younger applicants default more, 12.3% at 20-25 vs 4.9% at 60-70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Clients with the 'pensioner' placeholder (DAYS_EMPLOYED = 365243) default at 5.4% vs 8.7% for the employed, kept as a flag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Imbalanced target → judged by AUC / Gini / KS, not accuracy</a:t>
            </a:r>
          </a:p>
        </p:txBody>
      </p:sp>
      <p:pic>
        <p:nvPicPr>
          <p:cNvPr id="4" name="Picture 3" descr="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40480"/>
            <a:ext cx="9601200" cy="2513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808080"/>
                </a:solidFill>
              </a:defRPr>
            </a:pPr>
            <a:r>
              <a:t>Home Credit Indonesia · Data Scientist assessment · Nauval Zulfikar ·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1F3A5F"/>
                </a:solidFill>
              </a:defRPr>
            </a:pPr>
            <a:r>
              <a:t>Workflow &amp; business-logic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Raw CSVs → 4 feature scripts → 2 models → validation → scoring (one command, run_all.sh)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Affordability, credit/income, annuity/income, loan term (credit/annuity)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Stability, age, years employed, employment-to-age ratio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Bureau, active loans, total debt ratio, worst days-past-due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Past Home Credit behaviour, refusal rate, recent refusals, late-payment rate, under-payment, card utilisation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220 features for LightGBM; 29 for the scorecard (IV filter + correct risk direction only)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Without the external scores LightGBM still reaches AUC 0.766, above the best simple rule (0.717), so the built features carry their own signal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Gender excluded from both models (fair lending)</a:t>
            </a:r>
          </a:p>
        </p:txBody>
      </p:sp>
      <p:pic>
        <p:nvPicPr>
          <p:cNvPr id="4" name="Picture 3" descr="lgbm_importance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486400" cy="3611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808080"/>
                </a:solidFill>
              </a:defRPr>
            </a:pPr>
            <a:r>
              <a:t>Home Credit Indonesia · Data Scientist assessment · Nauval Zulfikar ·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1F3A5F"/>
                </a:solidFill>
              </a:defRPr>
            </a:pPr>
            <a:r>
              <a:t>Two models, accuracy vs. explainability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949440" cy="237035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280160"/>
          <a:ext cx="4206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Scorecard (LR)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OOF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0.757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0.515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0.385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Fold AUC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0.0034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AUC on own 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0.760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PSI train→test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6858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Both beat the best simple rule (average of external scores, AUC 0.717); both stable across folds (std &lt; 0.004); scores stable train→test (PSI &lt; 0.01) but the loan-term input shifted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LightGBM +0.033 AUC, but train 0.88 vs valid 0.79 → watch overfit</a:t>
            </a:r>
          </a:p>
          <a:p>
            <a:pPr>
              <a:spcAft>
                <a:spcPts val="750"/>
              </a:spcAft>
              <a:defRPr sz="1500" b="0">
                <a:solidFill>
                  <a:srgbClr val="222222"/>
                </a:solidFill>
              </a:defRPr>
            </a:pPr>
            <a:r>
              <a:t>• Scorecard has no overfit, every coefficient has the expected sign, points 463 to 662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808080"/>
                </a:solidFill>
              </a:defRPr>
            </a:pPr>
            <a:r>
              <a:t>Home Credit Indonesia · Data Scientist assessment · Nauval Zulfikar ·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1F3A5F"/>
                </a:solidFill>
              </a:defRPr>
            </a:pPr>
            <a:r>
              <a:t>Scorecard, every decision comes with a reason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5852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 variables (by 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IV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APP_EXT_MEAN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average external 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APP_EXT_MIN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worst external 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APP_EXT_SOURCE_3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external score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0.34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APP_EXT_SOURCE_2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external score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0.33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APP_EXT_SOURCE_1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external score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0.16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BUR_DAYS_CREDIT_MEAN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how recent bureau loans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0.13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APP_EMPLOYED_YEARS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years in current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0.12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BUR_TOTAL_DEBT_RATIO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outstanding / total bureau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22222"/>
                </a:solidFill>
              </a:defRPr>
            </a:pPr>
            <a:r>
              <a:t>Example, INS_RECENT_LATE_RATE (late instalments, last 12 months)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73736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Late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Default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21.6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2%-9%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16.4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9%-36%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 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11.5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 in last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29 of 73 candidates kept, with information value ≥ 0.02, then only variables whose effect has the expected sign (APP_AGE_YEARS dropped)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Score = sum of points per variable; 600 points = 50:1 good:bad odds, every 20 points doubles the odds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Reason codes for a rejection = the variables where the applicant lost the most points vs. the best bin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Missing values form their own bin, scored by their own default rate (no instalments in the last 12 months, 29% of clients, 7.8% default, 19.2 points)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808080"/>
                </a:solidFill>
              </a:defRPr>
            </a:pPr>
            <a:r>
              <a:t>Home Credit Indonesia · Data Scientist assessment · Nauval Zulfikar ·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1F3A5F"/>
                </a:solidFill>
              </a:defRPr>
            </a:pPr>
            <a:r>
              <a:t>Business use &amp; 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Reject riskiest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Default rate of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Defaults avoided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Break-even ratio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1.66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2.29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2.88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3.42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Today 8.1% of loans default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Refusing the riskiest 10% pays off only if a default loses more than 2.3x what a good loan earns, per unit of credit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Break-even ratio = credit of good clients refused ÷ credit of defaulters refused; the bank plugs in its own margin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Past refusals have no outcome → confirm with a small live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LightGBM for ranking; the scorecard where reason codes are needed (adverse-action letters, OJK audit); recalibrate on recent loans before pricing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Grey zone, auto-approve low risk, auto-reject top risk, manual review in the middle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Monthly, PSI of the score and top-10 inputs (watch &gt; 0.1, act &gt; 0.25) and early default; quarterly, Gini, calibration and refusal rate by gender and age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Limits, no application dates so no time-based test; test set is 99% cash loans (cash-loan AUC 0.790); heavy reliance on external scores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Loan terms are shorter in test (PSI 1.6) though the score stays stable; under-30s are refused far more than their risk explains</a:t>
            </a:r>
          </a:p>
          <a:p>
            <a:pPr>
              <a:spcAft>
                <a:spcPts val="700"/>
              </a:spcAft>
              <a:defRPr sz="1400" b="0">
                <a:solidFill>
                  <a:srgbClr val="222222"/>
                </a:solidFill>
              </a:defRPr>
            </a:pPr>
            <a:r>
              <a:t>• Next, shadow run, go live once the shift is explained, agree the cut-off with the business, validate on dated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808080"/>
                </a:solidFill>
              </a:defRPr>
            </a:pPr>
            <a:r>
              <a:t>Home Credit Indonesia · Data Scientist assessment · Nauval Zulfikar ·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